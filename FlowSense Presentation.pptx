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  <p:embeddedFont>
      <p:font typeface="Urbanist ExtraBold"/>
      <p:bold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ExtraBold-boldItalic.fntdata"/><Relationship Id="rId25" Type="http://schemas.openxmlformats.org/officeDocument/2006/relationships/font" Target="fonts/UrbanistExtraBold-bold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4703266"/>
            <a:ext cx="72390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95525" y="2249834"/>
            <a:ext cx="76009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FLOW</a:t>
            </a:r>
            <a:r>
              <a:rPr b="0" i="0" lang="en-US" sz="6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SENSE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476500" y="3278534"/>
            <a:ext cx="723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Intelligent Traffic Command Center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43225" y="3861345"/>
            <a:ext cx="6305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Neuro-Symbolic Approach to Proactive Traffic Management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200" y="144973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67025" y="4903291"/>
            <a:ext cx="645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Leader: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Aman Yadav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</a:t>
            </a: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500" u="none" cap="none" strike="noStrike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Rahul, Aryan Chaudhary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The Operational Challenge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181100"/>
            <a:ext cx="52768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184904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Event-Driven Congestion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401490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Urban traffic networks are highly sensitive to disruptions. Localized traffic breakdowns quickly cascade through the city grid.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383559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0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Planned Events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207073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Political rallies, festivals, sports events, and scheduled construction activities.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4946153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9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Unplanned Incidents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5317628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Sudden gatherings, heavy vehicle breakdowns, and unexpected water logging.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54648"/>
            <a:ext cx="19556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965203"/>
            <a:ext cx="22413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1151"/>
            <a:ext cx="3486150" cy="4077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11151"/>
            <a:ext cx="3486150" cy="4077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11151"/>
            <a:ext cx="3486150" cy="4077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1564481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City traffic management is fundamentally reactive. Current systems lack predictive intelligence.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337795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Unquantified Impact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844676"/>
            <a:ext cx="2895600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 impact is not mathematically quantified in advance. Standard systems cannot predict the cascading severity of sudden urban disruptions.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8200" y="337795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Experience-Driven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844676"/>
            <a:ext cx="28956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Resource deployment relies heavily on human intuition. Dispatchers are forced to guess optimal manpower and barricading needs on the fly.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0100" y="337795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No Post-Event Learning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0100" y="3844676"/>
            <a:ext cx="28956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Cities repeat the same mistakes. There is no automated system to learn from past event responses and codify better operational rules.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5882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75882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758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469106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Why It's Hard Today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1164431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5524500" y="2026890"/>
            <a:ext cx="1143000" cy="571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093159" y="2465040"/>
            <a:ext cx="800553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Problem Statement Direction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33500" y="3484215"/>
            <a:ext cx="95250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"How can historical and real-time data be used to forecast event-related traffic impact and recommend optimal manpower, barricading, and diversion plans?"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3070"/>
            <a:ext cx="5229225" cy="3853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3070"/>
            <a:ext cx="5229225" cy="3853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167640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4-Layer </a:t>
            </a: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Neuro-Symbolic Hybrid AI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designed to structure chaos and enforce logical rules.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3077765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1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Neuro Layer (NLP)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71550" y="3582590"/>
            <a:ext cx="4448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Structuring the Chaos.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71550" y="4138761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use Machine Learning (TF-IDF Vectorization and Random Forests) to instantly read raw, unstructured dispatch text and map it to strict Urban Event Categories.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72275" y="3245346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7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B5CF6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Symbolic Layer (Logic)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72275" y="3750171"/>
            <a:ext cx="4448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Hard-Coded Urban Rules.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72275" y="4306341"/>
            <a:ext cx="44481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inject deterministic city-planning rules to act as a logic filter, ensuring the AI operates strictly within established, safe operational parameters.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096815"/>
            <a:ext cx="298846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264396"/>
            <a:ext cx="37504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The FlowSense Architecture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7776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81025" y="1676400"/>
            <a:ext cx="5229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Extracting root causes from raw, chaotic dispatch text.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7301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009650" y="2693491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Handling Slang &amp; Panic: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Incoming reports are unstructured. Our NLP layer cuts through the noise.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09650" y="3601938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Vectorization: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Text is mathematically transformed and fed into a balanced Random Forest Classifier.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009650" y="4845546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Standardized Output: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Automatically maps vague reports (e.g., "crater in road") to strict categories like "Pothole".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315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4003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88364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Layer 1: NLP Classification (Neuro)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809750" y="2118568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Overriding AI bias by hard-coding deterministic city-planning rules directly into the decision pipeline.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857375" y="3387179"/>
            <a:ext cx="90011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Preventing Hallucinations: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Pure Machine Learning models can hallucinate or misinterpret edge cases. Our Symbolic layer prevents this by enforcing strict protocols.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857375" y="4499520"/>
            <a:ext cx="900112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Contextual Intelligence in Action: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logic engine ensures that a "Vehicle Breakdown" only triggers High Priority resource allocation if the NLP specifically detects a "bus" or "heavy truck". Minor car incidents are accurately downgraded.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3776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4489995"/>
            <a:ext cx="2286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Layer 2: Expert Logic Engine (Symbolic)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35621"/>
            <a:ext cx="11029950" cy="46821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809750" y="5312271"/>
            <a:ext cx="857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Predicting clearance time using an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Outlier Capping Algorithm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By capping predictions at 3x the historical median, we guarantee realistic, actionable timeframes for dispatchers during extreme anomalies.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540246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Layer 3: Impact Forecasting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81025" y="1235571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23070"/>
            <a:ext cx="3486150" cy="3695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23070"/>
            <a:ext cx="3486150" cy="3695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23070"/>
            <a:ext cx="3486150" cy="369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81025" y="167640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Outputting precise, actionable tactical plans for dispatchers in milliseconds.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76300" y="348987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Manpower Limits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76300" y="3908970"/>
            <a:ext cx="28956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Recommends optimal officer deployment counts (e.g., "6-10 Officers") based on the hybrid impact score, preventing resource overallocation.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648200" y="348987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Barricading Hardware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648200" y="3908970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Prescribes exact hardware needs, intelligently shifting directives from "Light Cones" to "Heavy Reflective Barricades".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420100" y="348987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Upstream Diversion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420100" y="3908970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Calculates if immediate route diversion is required to isolate the event and preserve surrounding corridor traffic flow.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7074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8707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Layer 4: Prescriptive Dashboard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03091"/>
            <a:ext cx="5229225" cy="1350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844206"/>
            <a:ext cx="5229225" cy="1350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676400"/>
            <a:ext cx="52292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81025" y="1729829"/>
            <a:ext cx="52292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Grounded in Reality.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81025" y="2347019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FlowSense is not built on theoretical models. The engine is trained directly on the provided Astram Dataset.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04875" y="3588841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8,173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04875" y="4093666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Traffic Events Analyzed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04875" y="5129956"/>
            <a:ext cx="48506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B5CF6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54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04875" y="5634781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Police Stations Covered</a:t>
            </a:r>
            <a:endParaRPr/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1685925"/>
            <a:ext cx="52101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The Data Engine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7075" y="4715767"/>
            <a:ext cx="56578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4564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4252648" y="2504182"/>
            <a:ext cx="368655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Thank You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3929062" y="3609082"/>
            <a:ext cx="4333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Intelligence Behind the Flow.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409950" y="5106292"/>
            <a:ext cx="1333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Aman Yadav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429250" y="5106292"/>
            <a:ext cx="666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Rahul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781800" y="5106292"/>
            <a:ext cx="2000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Aryan Chaudhary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